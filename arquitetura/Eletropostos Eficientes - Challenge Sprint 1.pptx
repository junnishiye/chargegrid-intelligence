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5" r:id="rId6"/>
    <p:sldId id="258" r:id="rId7"/>
    <p:sldId id="263" r:id="rId8"/>
    <p:sldId id="259" r:id="rId9"/>
    <p:sldId id="260" r:id="rId10"/>
    <p:sldId id="266" r:id="rId11"/>
    <p:sldId id="267" r:id="rId12"/>
    <p:sldId id="264" r:id="rId13"/>
    <p:sldId id="262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881AB-CAC7-D2FF-9161-9D29BE2397A7}" v="1640" dt="2026-05-15T01:56:18.945"/>
    <p1510:client id="{9AE71D5A-F8F8-C078-2070-C7B8BA5B23DD}" v="1239" dt="2026-05-14T05:55:48.0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fiapcom-my.sharepoint.com/personal/rm571691_fiap_com_br/Documents/Boo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5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Sheet1!$C$3</c:f>
              <c:strCache>
                <c:ptCount val="1"/>
                <c:pt idx="0">
                  <c:v>Ciclos de CPU</c:v>
                </c:pt>
              </c:strCache>
            </c:strRef>
          </c:tx>
          <c:spPr>
            <a:solidFill>
              <a:srgbClr val="B4C6E7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C6E0B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E9D-40F7-947A-A5D3A102CB75}"/>
              </c:ext>
            </c:extLst>
          </c:dPt>
          <c:cat>
            <c:strRef>
              <c:f>Sheet1!$B$4:$B$5</c:f>
              <c:strCache>
                <c:ptCount val="2"/>
                <c:pt idx="0">
                  <c:v>Genérico (C)</c:v>
                </c:pt>
                <c:pt idx="1">
                  <c:v>Otimizado (Assembly)</c:v>
                </c:pt>
              </c:strCache>
            </c:strRef>
          </c:cat>
          <c:val>
            <c:numRef>
              <c:f>Sheet1!$C$4:$C$5</c:f>
              <c:numCache>
                <c:formatCode>General</c:formatCode>
                <c:ptCount val="2"/>
                <c:pt idx="0">
                  <c:v>200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9D-40F7-947A-A5D3A102CB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3"/>
        <c:overlap val="-27"/>
        <c:axId val="2098077703"/>
        <c:axId val="2098079751"/>
      </c:barChart>
      <c:catAx>
        <c:axId val="2098077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079751"/>
        <c:crosses val="autoZero"/>
        <c:auto val="1"/>
        <c:lblAlgn val="ctr"/>
        <c:lblOffset val="100"/>
        <c:noMultiLvlLbl val="0"/>
      </c:catAx>
      <c:valAx>
        <c:axId val="2098079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077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9525" cap="flat" cmpd="sng" algn="ctr">
      <a:solidFill>
        <a:srgbClr val="757171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5/14/2026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4428" y="639097"/>
            <a:ext cx="6368643" cy="3686015"/>
          </a:xfrm>
        </p:spPr>
        <p:txBody>
          <a:bodyPr>
            <a:normAutofit/>
          </a:bodyPr>
          <a:lstStyle/>
          <a:p>
            <a:r>
              <a:rPr lang="en-US" sz="8000" err="1"/>
              <a:t>Eletropostos</a:t>
            </a:r>
            <a:r>
              <a:rPr lang="en-US" sz="8000"/>
              <a:t> </a:t>
            </a:r>
            <a:r>
              <a:rPr lang="en-US" sz="8000" err="1"/>
              <a:t>Eficientes</a:t>
            </a:r>
            <a:endParaRPr lang="en-US" sz="80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6EEA48D6-4497-4E86-BEA0-27B129304B59}"/>
              </a:ext>
            </a:extLst>
          </p:cNvPr>
          <p:cNvSpPr txBox="1">
            <a:spLocks/>
          </p:cNvSpPr>
          <p:nvPr/>
        </p:nvSpPr>
        <p:spPr>
          <a:xfrm>
            <a:off x="5427754" y="4672739"/>
            <a:ext cx="5636107" cy="5464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err="1"/>
              <a:t>Controle</a:t>
            </a:r>
            <a:r>
              <a:rPr lang="en-US" sz="3000" dirty="0"/>
              <a:t> de carga </a:t>
            </a:r>
            <a:r>
              <a:rPr lang="en-US" sz="3000" dirty="0" err="1"/>
              <a:t>otimizado</a:t>
            </a:r>
            <a:r>
              <a:rPr lang="en-US" sz="3000" dirty="0"/>
              <a:t> com Assembly</a:t>
            </a:r>
            <a:endParaRPr lang="en-US" dirty="0"/>
          </a:p>
        </p:txBody>
      </p:sp>
      <p:pic>
        <p:nvPicPr>
          <p:cNvPr id="3" name="Picture 2" descr="Distribuidor GoodWe | Inversores e sistemas híbridos">
            <a:extLst>
              <a:ext uri="{FF2B5EF4-FFF2-40B4-BE49-F238E27FC236}">
                <a16:creationId xmlns:a16="http://schemas.microsoft.com/office/drawing/2014/main" id="{35E73119-CBB0-108D-A0B8-885652B90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44" y="323002"/>
            <a:ext cx="2520864" cy="6379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289C7F-E37B-F441-F43B-E57DC8379016}"/>
              </a:ext>
            </a:extLst>
          </p:cNvPr>
          <p:cNvSpPr txBox="1"/>
          <p:nvPr/>
        </p:nvSpPr>
        <p:spPr>
          <a:xfrm>
            <a:off x="549797" y="5290595"/>
            <a:ext cx="4099368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500">
                <a:solidFill>
                  <a:srgbClr val="262626"/>
                </a:solidFill>
                <a:latin typeface="Bookman Old Style"/>
              </a:rPr>
              <a:t>André Felix – 571691</a:t>
            </a:r>
            <a:endParaRPr lang="en-US"/>
          </a:p>
          <a:p>
            <a:pPr algn="just"/>
            <a:r>
              <a:rPr lang="en-US" sz="1500">
                <a:solidFill>
                  <a:srgbClr val="262626"/>
                </a:solidFill>
                <a:latin typeface="Bookman Old Style"/>
              </a:rPr>
              <a:t>Davi Pacheco – 569487</a:t>
            </a:r>
          </a:p>
          <a:p>
            <a:pPr algn="just"/>
            <a:r>
              <a:rPr lang="en-US" sz="1500">
                <a:solidFill>
                  <a:srgbClr val="262626"/>
                </a:solidFill>
                <a:latin typeface="Bookman Old Style"/>
              </a:rPr>
              <a:t>Gabriel Silveira – 568910</a:t>
            </a:r>
          </a:p>
          <a:p>
            <a:pPr algn="just"/>
            <a:r>
              <a:rPr lang="en-US" sz="1500">
                <a:solidFill>
                  <a:srgbClr val="262626"/>
                </a:solidFill>
                <a:latin typeface="Bookman Old Style"/>
              </a:rPr>
              <a:t>Henrique Aragão – 570529</a:t>
            </a:r>
          </a:p>
          <a:p>
            <a:pPr algn="just"/>
            <a:r>
              <a:rPr lang="en-US" sz="1500">
                <a:solidFill>
                  <a:srgbClr val="262626"/>
                </a:solidFill>
                <a:latin typeface="Bookman Old Style"/>
              </a:rPr>
              <a:t>João Vitor Jun – 572079</a:t>
            </a:r>
            <a:endParaRPr lang="en-US" sz="1500" dirty="0">
              <a:solidFill>
                <a:srgbClr val="262626"/>
              </a:solidFill>
              <a:latin typeface="Bookman Old Style"/>
            </a:endParaRPr>
          </a:p>
        </p:txBody>
      </p:sp>
      <p:pic>
        <p:nvPicPr>
          <p:cNvPr id="11" name="Picture 10" descr="Eletroposto - Beiramar Shopping">
            <a:extLst>
              <a:ext uri="{FF2B5EF4-FFF2-40B4-BE49-F238E27FC236}">
                <a16:creationId xmlns:a16="http://schemas.microsoft.com/office/drawing/2014/main" id="{D141A0EF-121E-F89D-5A20-B22807773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43" y="960329"/>
            <a:ext cx="2150302" cy="215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2B37-4B16-AD66-ED2C-F86A13E3F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Contexto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5F1B9-36F1-2170-B298-9FE1858FA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pt-BR" sz="3000" dirty="0">
                <a:solidFill>
                  <a:srgbClr val="404040"/>
                </a:solidFill>
              </a:rPr>
              <a:t>Projeto sobre a utilização de energia em eletropostos :</a:t>
            </a:r>
          </a:p>
          <a:p>
            <a:pPr marL="0" indent="0">
              <a:buNone/>
            </a:pPr>
            <a:r>
              <a:rPr lang="pt-BR" sz="3000" dirty="0">
                <a:solidFill>
                  <a:srgbClr val="404040"/>
                </a:solidFill>
              </a:rPr>
              <a:t>  • </a:t>
            </a:r>
            <a:r>
              <a:rPr lang="pt-BR" sz="3000" dirty="0" err="1">
                <a:solidFill>
                  <a:srgbClr val="404040"/>
                </a:solidFill>
              </a:rPr>
              <a:t>Prolemática</a:t>
            </a:r>
            <a:r>
              <a:rPr lang="pt-BR" sz="3000" dirty="0">
                <a:solidFill>
                  <a:srgbClr val="404040"/>
                </a:solidFill>
              </a:rPr>
              <a:t>: Ineficiência energética</a:t>
            </a:r>
            <a:endParaRPr lang="en-US" sz="3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pt-BR" sz="3000" dirty="0">
                <a:solidFill>
                  <a:srgbClr val="404040"/>
                </a:solidFill>
              </a:rPr>
              <a:t>  • </a:t>
            </a:r>
            <a:r>
              <a:rPr lang="pt-BR" sz="3000">
                <a:solidFill>
                  <a:srgbClr val="404040"/>
                </a:solidFill>
              </a:rPr>
              <a:t>Otimização</a:t>
            </a:r>
          </a:p>
          <a:p>
            <a:pPr marL="0" indent="0">
              <a:buNone/>
            </a:pPr>
            <a:r>
              <a:rPr lang="pt-BR" sz="3000" dirty="0">
                <a:solidFill>
                  <a:srgbClr val="404040"/>
                </a:solidFill>
              </a:rPr>
              <a:t>  • </a:t>
            </a:r>
            <a:r>
              <a:rPr lang="pt-BR" sz="3000">
                <a:solidFill>
                  <a:srgbClr val="404040"/>
                </a:solidFill>
              </a:rPr>
              <a:t>Análise conceitual de resultados</a:t>
            </a:r>
          </a:p>
        </p:txBody>
      </p:sp>
      <p:pic>
        <p:nvPicPr>
          <p:cNvPr id="5" name="Picture 4" descr="Distribuidor GoodWe | Inversores e sistemas híbridos">
            <a:extLst>
              <a:ext uri="{FF2B5EF4-FFF2-40B4-BE49-F238E27FC236}">
                <a16:creationId xmlns:a16="http://schemas.microsoft.com/office/drawing/2014/main" id="{B8A548EA-344E-4BF5-9216-E66874262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44" y="323002"/>
            <a:ext cx="2520864" cy="637915"/>
          </a:xfrm>
          <a:prstGeom prst="rect">
            <a:avLst/>
          </a:prstGeom>
        </p:spPr>
      </p:pic>
      <p:pic>
        <p:nvPicPr>
          <p:cNvPr id="7" name="Picture 6" descr="SENAI-SP tem eletropostos para cursos e treinamentos - Portal Potência">
            <a:extLst>
              <a:ext uri="{FF2B5EF4-FFF2-40B4-BE49-F238E27FC236}">
                <a16:creationId xmlns:a16="http://schemas.microsoft.com/office/drawing/2014/main" id="{B5135CAF-96E4-FBE1-3F76-2631FA2C4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10"/>
          <a:stretch>
            <a:fillRect/>
          </a:stretch>
        </p:blipFill>
        <p:spPr>
          <a:xfrm>
            <a:off x="8652076" y="4354733"/>
            <a:ext cx="2787570" cy="175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8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795B-955D-4918-9BC2-742CB5B7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Problema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113EC-0CF1-4887-A6A8-6F185B09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pt-BR" sz="3000"/>
              <a:t> Software com linguagem de alto nível:</a:t>
            </a:r>
          </a:p>
          <a:p>
            <a:pPr marL="0" indent="0">
              <a:buNone/>
            </a:pPr>
            <a:r>
              <a:rPr lang="pt-BR" sz="3000"/>
              <a:t>  • Gera mais instruções (maior uso de CPU).</a:t>
            </a:r>
          </a:p>
          <a:p>
            <a:pPr marL="0" indent="0">
              <a:buNone/>
            </a:pPr>
            <a:r>
              <a:rPr lang="pt-BR" sz="3000"/>
              <a:t>  • Maior consumo de energia computacional.</a:t>
            </a:r>
          </a:p>
          <a:p>
            <a:pPr marL="0" indent="0">
              <a:buNone/>
            </a:pPr>
            <a:r>
              <a:rPr lang="pt-BR" sz="3000" dirty="0"/>
              <a:t>  • Processamento e autentica</a:t>
            </a:r>
            <a:r>
              <a:rPr lang="pt-BR" sz="3000"/>
              <a:t>ção lentos.</a:t>
            </a:r>
            <a:endParaRPr lang="pt-BR" sz="3000" dirty="0"/>
          </a:p>
          <a:p>
            <a:pPr marL="0" indent="0">
              <a:buNone/>
            </a:pPr>
            <a:endParaRPr lang="pt-BR" sz="3000" dirty="0"/>
          </a:p>
          <a:p>
            <a:pPr marL="0" indent="0">
              <a:buNone/>
            </a:pPr>
            <a:endParaRPr lang="pt-BR" sz="3000" dirty="0"/>
          </a:p>
        </p:txBody>
      </p:sp>
      <p:pic>
        <p:nvPicPr>
          <p:cNvPr id="5" name="Picture 4" descr="Distribuidor GoodWe | Inversores e sistemas híbridos">
            <a:extLst>
              <a:ext uri="{FF2B5EF4-FFF2-40B4-BE49-F238E27FC236}">
                <a16:creationId xmlns:a16="http://schemas.microsoft.com/office/drawing/2014/main" id="{82B18B48-183C-3792-01B9-E62FC893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44" y="323002"/>
            <a:ext cx="2520864" cy="63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5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456F-C8A2-EC19-E568-A53DBDF10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Por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otimizar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32E44-D329-6D4A-7424-AA3B9FD8E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97567"/>
            <a:ext cx="3914175" cy="626082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None/>
            </a:pPr>
            <a:r>
              <a:rPr lang="pt-BR" sz="3000"/>
              <a:t> MENOS ciclos de CPU</a:t>
            </a:r>
            <a:endParaRPr lang="pt-BR" sz="3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pt-BR" sz="3000" dirty="0">
              <a:solidFill>
                <a:srgbClr val="404040"/>
              </a:solidFill>
            </a:endParaRPr>
          </a:p>
          <a:p>
            <a:pPr marL="0" indent="0" algn="just">
              <a:buNone/>
            </a:pPr>
            <a:endParaRPr lang="pt-BR" sz="3000" dirty="0"/>
          </a:p>
          <a:p>
            <a:pPr marL="0" indent="0" algn="just">
              <a:buNone/>
            </a:pPr>
            <a:endParaRPr lang="pt-BR" sz="3000" dirty="0"/>
          </a:p>
        </p:txBody>
      </p:sp>
      <p:pic>
        <p:nvPicPr>
          <p:cNvPr id="5" name="Picture 4" descr="Distribuidor GoodWe | Inversores e sistemas híbridos">
            <a:extLst>
              <a:ext uri="{FF2B5EF4-FFF2-40B4-BE49-F238E27FC236}">
                <a16:creationId xmlns:a16="http://schemas.microsoft.com/office/drawing/2014/main" id="{85D052A9-22EB-DD64-D8C5-02F1CF7B4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44" y="323002"/>
            <a:ext cx="2520864" cy="637915"/>
          </a:xfrm>
          <a:prstGeom prst="rect">
            <a:avLst/>
          </a:prstGeom>
        </p:spPr>
      </p:pic>
      <p:pic>
        <p:nvPicPr>
          <p:cNvPr id="6" name="Picture 5" descr="Arquivo:Seta.png - Normas ABNT">
            <a:extLst>
              <a:ext uri="{FF2B5EF4-FFF2-40B4-BE49-F238E27FC236}">
                <a16:creationId xmlns:a16="http://schemas.microsoft.com/office/drawing/2014/main" id="{D3AC25CD-A85B-BFD8-3111-D5FB53404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200000">
            <a:off x="4290347" y="2674719"/>
            <a:ext cx="1441049" cy="14410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4FFE6D-4C93-68A3-42D0-4BA584166CDE}"/>
              </a:ext>
            </a:extLst>
          </p:cNvPr>
          <p:cNvSpPr txBox="1"/>
          <p:nvPr/>
        </p:nvSpPr>
        <p:spPr>
          <a:xfrm>
            <a:off x="4639519" y="3853405"/>
            <a:ext cx="290331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000" b="0" i="0" u="none" strike="noStrike" baseline="0" dirty="0">
                <a:solidFill>
                  <a:srgbClr val="404040"/>
                </a:solidFill>
                <a:latin typeface="Franklin Gothic Book"/>
              </a:rPr>
              <a:t>MENOS</a:t>
            </a:r>
            <a:r>
              <a:rPr lang="pt-BR" sz="3000" dirty="0">
                <a:solidFill>
                  <a:srgbClr val="404040"/>
                </a:solidFill>
                <a:latin typeface="Franklin Gothic Book"/>
              </a:rPr>
              <a:t> </a:t>
            </a:r>
            <a:r>
              <a:rPr lang="pt-BR" sz="3000" b="0" i="0" u="none" strike="noStrike" baseline="0" dirty="0">
                <a:solidFill>
                  <a:srgbClr val="404040"/>
                </a:solidFill>
                <a:latin typeface="Franklin Gothic Book"/>
              </a:rPr>
              <a:t> </a:t>
            </a:r>
            <a:r>
              <a:rPr lang="pt-BR" sz="3000" dirty="0">
                <a:solidFill>
                  <a:srgbClr val="404040"/>
                </a:solidFill>
                <a:latin typeface="Franklin Gothic Book"/>
              </a:rPr>
              <a:t>energia</a:t>
            </a:r>
            <a:endParaRPr 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22079-9642-ABBD-FBBB-0B1EB3F224C5}"/>
              </a:ext>
            </a:extLst>
          </p:cNvPr>
          <p:cNvSpPr txBox="1"/>
          <p:nvPr/>
        </p:nvSpPr>
        <p:spPr>
          <a:xfrm>
            <a:off x="7243822" y="5271304"/>
            <a:ext cx="391610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000">
                <a:solidFill>
                  <a:srgbClr val="404040"/>
                </a:solidFill>
              </a:rPr>
              <a:t>MAIS sustentabilidade</a:t>
            </a:r>
          </a:p>
        </p:txBody>
      </p:sp>
      <p:pic>
        <p:nvPicPr>
          <p:cNvPr id="11" name="Picture 10" descr="Arquivo:Seta.png - Normas ABNT">
            <a:extLst>
              <a:ext uri="{FF2B5EF4-FFF2-40B4-BE49-F238E27FC236}">
                <a16:creationId xmlns:a16="http://schemas.microsoft.com/office/drawing/2014/main" id="{44453EFF-D38F-1714-39C4-C82B038C4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200000">
            <a:off x="7203310" y="4150491"/>
            <a:ext cx="1441049" cy="144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55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50B84-7D1E-4BDD-AE74-46C9EC87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Solução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E4585-5827-4910-B7FA-D90B266D6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000"/>
              <a:t>• Uso de Assembly</a:t>
            </a:r>
          </a:p>
          <a:p>
            <a:pPr marL="0" indent="0">
              <a:buNone/>
            </a:pPr>
            <a:r>
              <a:rPr lang="pt-BR" sz="3000"/>
              <a:t> • Arquitetura eficiente (RISC-V) para reduzir ciclos de CPU.</a:t>
            </a:r>
          </a:p>
        </p:txBody>
      </p:sp>
      <p:pic>
        <p:nvPicPr>
          <p:cNvPr id="6" name="Picture 5" descr="O que é a arquitetura RISC-V de processadores e porquê vários países e  organizações estão adotando? - Forças Terrestres">
            <a:extLst>
              <a:ext uri="{FF2B5EF4-FFF2-40B4-BE49-F238E27FC236}">
                <a16:creationId xmlns:a16="http://schemas.microsoft.com/office/drawing/2014/main" id="{49E6F1BC-5582-2638-1B37-64C3FA942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135" y="3988564"/>
            <a:ext cx="3109732" cy="1745607"/>
          </a:xfrm>
          <a:prstGeom prst="rect">
            <a:avLst/>
          </a:prstGeom>
        </p:spPr>
      </p:pic>
      <p:pic>
        <p:nvPicPr>
          <p:cNvPr id="8" name="Picture 7" descr="Distribuidor GoodWe | Inversores e sistemas híbridos">
            <a:extLst>
              <a:ext uri="{FF2B5EF4-FFF2-40B4-BE49-F238E27FC236}">
                <a16:creationId xmlns:a16="http://schemas.microsoft.com/office/drawing/2014/main" id="{FE401D82-A7F5-2F90-2BFE-0E4901547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44" y="323002"/>
            <a:ext cx="2520864" cy="63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5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43569B-E114-4B4A-8650-BA1EB114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 </a:t>
            </a:r>
            <a:r>
              <a:rPr lang="pt-BR" err="1"/>
              <a:t>vs</a:t>
            </a:r>
            <a:r>
              <a:rPr lang="pt-BR"/>
              <a:t> Assembly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25BC08-FDB9-4C81-B4BF-F0DC14059F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BR" sz="3000"/>
              <a:t>C:</a:t>
            </a:r>
          </a:p>
          <a:p>
            <a:pPr lvl="2"/>
            <a:r>
              <a:rPr lang="pt-BR" sz="2400"/>
              <a:t>Mais instruções</a:t>
            </a:r>
          </a:p>
          <a:p>
            <a:pPr lvl="2"/>
            <a:r>
              <a:rPr lang="pt-BR" sz="2400"/>
              <a:t>Menos controle</a:t>
            </a:r>
          </a:p>
          <a:p>
            <a:pPr lvl="2"/>
            <a:r>
              <a:rPr lang="pt-BR" sz="2400"/>
              <a:t>Mais consumo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0069E-F4AE-4325-8350-0033BA25E9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pt-BR" sz="3000"/>
              <a:t>Assembly:</a:t>
            </a:r>
          </a:p>
          <a:p>
            <a:pPr lvl="2"/>
            <a:r>
              <a:rPr lang="pt-BR" sz="2400"/>
              <a:t>Menos instruções</a:t>
            </a:r>
          </a:p>
          <a:p>
            <a:pPr lvl="2"/>
            <a:r>
              <a:rPr lang="pt-BR" sz="2400"/>
              <a:t>Mais controle</a:t>
            </a:r>
          </a:p>
          <a:p>
            <a:pPr lvl="2"/>
            <a:r>
              <a:rPr lang="pt-BR" sz="2400"/>
              <a:t>Menor Consumo</a:t>
            </a:r>
          </a:p>
        </p:txBody>
      </p:sp>
      <p:pic>
        <p:nvPicPr>
          <p:cNvPr id="3" name="Picture 2" descr="Curso de Linguagem C e C++ - Aptech Computer Education">
            <a:extLst>
              <a:ext uri="{FF2B5EF4-FFF2-40B4-BE49-F238E27FC236}">
                <a16:creationId xmlns:a16="http://schemas.microsoft.com/office/drawing/2014/main" id="{2781AD62-48A1-2E84-91EE-907FC03E8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063" y="4716684"/>
            <a:ext cx="1051368" cy="1070659"/>
          </a:xfrm>
          <a:prstGeom prst="rect">
            <a:avLst/>
          </a:prstGeom>
        </p:spPr>
      </p:pic>
      <p:pic>
        <p:nvPicPr>
          <p:cNvPr id="9" name="Picture 8" descr="Jointer Training Courses LV Archives - Power and Cables">
            <a:extLst>
              <a:ext uri="{FF2B5EF4-FFF2-40B4-BE49-F238E27FC236}">
                <a16:creationId xmlns:a16="http://schemas.microsoft.com/office/drawing/2014/main" id="{15BC15FA-3F01-C390-1B12-337C5C89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462" y="4805906"/>
            <a:ext cx="882569" cy="892215"/>
          </a:xfrm>
          <a:prstGeom prst="rect">
            <a:avLst/>
          </a:prstGeom>
        </p:spPr>
      </p:pic>
      <p:pic>
        <p:nvPicPr>
          <p:cNvPr id="11" name="Picture 10" descr="Distribuidor GoodWe | Inversores e sistemas híbridos">
            <a:extLst>
              <a:ext uri="{FF2B5EF4-FFF2-40B4-BE49-F238E27FC236}">
                <a16:creationId xmlns:a16="http://schemas.microsoft.com/office/drawing/2014/main" id="{95546281-7AB0-73C1-3EAA-6D3C504AA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44" y="323002"/>
            <a:ext cx="2520864" cy="63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5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EB4D-6C8D-8F77-2B25-64BD92853A1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29" y="133009"/>
            <a:ext cx="3354730" cy="822425"/>
          </a:xfrm>
        </p:spPr>
        <p:txBody>
          <a:bodyPr>
            <a:normAutofit/>
          </a:bodyPr>
          <a:lstStyle/>
          <a:p>
            <a:pPr algn="ctr"/>
            <a:r>
              <a:rPr lang="en-US" sz="3800"/>
              <a:t>Código</a:t>
            </a:r>
            <a:endParaRPr lang="en-US" sz="3800" dirty="0"/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B8C745D-09C9-E0DF-793C-BF1725C413E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796657" y="1047710"/>
            <a:ext cx="7343975" cy="495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4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E9B0-1810-67A9-A384-9221F5A63B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473215" y="517115"/>
            <a:ext cx="5814352" cy="42695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800" dirty="0" err="1"/>
              <a:t>Saída</a:t>
            </a:r>
            <a:r>
              <a:rPr lang="en-US" sz="3800" dirty="0"/>
              <a:t> no </a:t>
            </a:r>
            <a:r>
              <a:rPr lang="en-US" sz="3800" dirty="0" err="1"/>
              <a:t>painel</a:t>
            </a:r>
            <a:endParaRPr lang="en-US" sz="38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A497E2-72B2-5854-E589-1FE619DE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20" y="1682599"/>
            <a:ext cx="7337642" cy="348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14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36F7-5206-C301-9D96-250A39F3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Impacto </a:t>
            </a:r>
            <a:r>
              <a:rPr lang="en-US" dirty="0" err="1"/>
              <a:t>sustentável</a:t>
            </a:r>
            <a:endParaRPr lang="en-US" dirty="0" err="1">
              <a:solidFill>
                <a:srgbClr val="40404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0DD14-64B9-E336-F240-613BD6799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lr>
                <a:srgbClr val="9BA8B7"/>
              </a:buClr>
            </a:pPr>
            <a:r>
              <a:rPr lang="pt-BR" sz="3000" dirty="0"/>
              <a:t>• 30% à 60% menos em gasto energético (estimado)</a:t>
            </a:r>
          </a:p>
          <a:p>
            <a:pPr>
              <a:buClr>
                <a:srgbClr val="9BA8B7"/>
              </a:buClr>
            </a:pPr>
            <a:r>
              <a:rPr lang="pt-BR" sz="3000"/>
              <a:t>• Custo operacional reduzido</a:t>
            </a:r>
            <a:endParaRPr lang="pt-BR" sz="3000" dirty="0"/>
          </a:p>
          <a:p>
            <a:pPr>
              <a:buClr>
                <a:srgbClr val="9BA8B7"/>
              </a:buClr>
            </a:pPr>
            <a:r>
              <a:rPr lang="pt-BR" sz="3000"/>
              <a:t>• Menor descarte de hardware</a:t>
            </a:r>
            <a:endParaRPr lang="pt-BR" sz="3000" dirty="0"/>
          </a:p>
          <a:p>
            <a:pPr>
              <a:buClr>
                <a:srgbClr val="9BA8B7"/>
              </a:buClr>
            </a:pPr>
            <a:r>
              <a:rPr lang="pt-BR" sz="3000"/>
              <a:t>• Menos CO</a:t>
            </a:r>
            <a:r>
              <a:rPr lang="pt-BR" sz="3000">
                <a:ea typeface="+mn-lt"/>
                <a:cs typeface="+mn-lt"/>
              </a:rPr>
              <a:t>₂</a:t>
            </a:r>
          </a:p>
          <a:p>
            <a:pPr>
              <a:buClr>
                <a:srgbClr val="9BA8B7"/>
              </a:buClr>
            </a:pPr>
            <a:endParaRPr lang="pt-BR" sz="3000" dirty="0"/>
          </a:p>
        </p:txBody>
      </p:sp>
      <p:pic>
        <p:nvPicPr>
          <p:cNvPr id="5" name="Picture 4" descr="Distribuidor GoodWe | Inversores e sistemas híbridos">
            <a:extLst>
              <a:ext uri="{FF2B5EF4-FFF2-40B4-BE49-F238E27FC236}">
                <a16:creationId xmlns:a16="http://schemas.microsoft.com/office/drawing/2014/main" id="{C0350E0D-8EA0-57C1-058A-2B0484CE8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44" y="323002"/>
            <a:ext cx="2520864" cy="63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30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F1D84-77A0-75F3-4B77-24192575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Comparação</a:t>
            </a:r>
            <a:r>
              <a:rPr lang="en-US" dirty="0"/>
              <a:t> (</a:t>
            </a:r>
            <a:r>
              <a:rPr lang="en-US" dirty="0" err="1"/>
              <a:t>conceitual</a:t>
            </a:r>
            <a:r>
              <a:rPr lang="en-US" dirty="0"/>
              <a:t>)</a:t>
            </a:r>
          </a:p>
        </p:txBody>
      </p:sp>
      <p:pic>
        <p:nvPicPr>
          <p:cNvPr id="5" name="Picture 4" descr="Distribuidor GoodWe | Inversores e sistemas híbridos">
            <a:extLst>
              <a:ext uri="{FF2B5EF4-FFF2-40B4-BE49-F238E27FC236}">
                <a16:creationId xmlns:a16="http://schemas.microsoft.com/office/drawing/2014/main" id="{A559CA60-9CDB-C342-4B02-8D2A57F75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62" y="284420"/>
            <a:ext cx="1729928" cy="464295"/>
          </a:xfrm>
          <a:prstGeom prst="rect">
            <a:avLst/>
          </a:prstGeom>
        </p:spPr>
      </p:pic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D1FC26D5-4E6E-4B58-4509-9BEB90D1F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996780"/>
              </p:ext>
            </p:extLst>
          </p:nvPr>
        </p:nvGraphicFramePr>
        <p:xfrm>
          <a:off x="569088" y="2170252"/>
          <a:ext cx="4108313" cy="260817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21342">
                  <a:extLst>
                    <a:ext uri="{9D8B030D-6E8A-4147-A177-3AD203B41FA5}">
                      <a16:colId xmlns:a16="http://schemas.microsoft.com/office/drawing/2014/main" val="3356069608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1125786143"/>
                    </a:ext>
                  </a:extLst>
                </a:gridCol>
                <a:gridCol w="1387758">
                  <a:extLst>
                    <a:ext uri="{9D8B030D-6E8A-4147-A177-3AD203B41FA5}">
                      <a16:colId xmlns:a16="http://schemas.microsoft.com/office/drawing/2014/main" val="2680461141"/>
                    </a:ext>
                  </a:extLst>
                </a:gridCol>
              </a:tblGrid>
              <a:tr h="8693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>
                          <a:effectLst/>
                          <a:latin typeface="Arial"/>
                        </a:rPr>
                        <a:t>Software</a:t>
                      </a:r>
                      <a:endParaRPr lang="en-US" sz="1600" b="1" dirty="0">
                        <a:effectLst/>
                        <a:latin typeface="Arial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 err="1">
                          <a:effectLst/>
                          <a:latin typeface="Arial"/>
                        </a:rPr>
                        <a:t>Ciclos</a:t>
                      </a:r>
                      <a:r>
                        <a:rPr lang="en-US" sz="1600" b="1" dirty="0">
                          <a:effectLst/>
                          <a:latin typeface="Arial"/>
                        </a:rPr>
                        <a:t> de CPU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Arial"/>
                        </a:rPr>
                        <a:t>Energia (</a:t>
                      </a:r>
                      <a:r>
                        <a:rPr lang="en-US" sz="1600" b="1" dirty="0" err="1">
                          <a:effectLst/>
                          <a:latin typeface="Arial"/>
                        </a:rPr>
                        <a:t>arbitrária</a:t>
                      </a:r>
                      <a:r>
                        <a:rPr lang="en-US" sz="1600" b="1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484724"/>
                  </a:ext>
                </a:extLst>
              </a:tr>
              <a:tr h="8693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 err="1">
                          <a:effectLst/>
                          <a:latin typeface="Arial"/>
                        </a:rPr>
                        <a:t>Genérico</a:t>
                      </a:r>
                      <a:r>
                        <a:rPr lang="en-US" sz="1600" dirty="0">
                          <a:effectLst/>
                          <a:latin typeface="Arial"/>
                        </a:rPr>
                        <a:t> (C)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</a:rPr>
                        <a:t>200</a:t>
                      </a:r>
                      <a:endParaRPr lang="en-US" sz="1600" dirty="0">
                        <a:effectLst/>
                        <a:latin typeface="Arial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</a:rPr>
                        <a:t>100%</a:t>
                      </a:r>
                      <a:endParaRPr lang="en-US" sz="1600" dirty="0">
                        <a:effectLst/>
                        <a:latin typeface="Arial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047369"/>
                  </a:ext>
                </a:extLst>
              </a:tr>
              <a:tr h="8693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 err="1">
                          <a:effectLst/>
                          <a:latin typeface="Arial"/>
                        </a:rPr>
                        <a:t>Otimizado</a:t>
                      </a:r>
                      <a:r>
                        <a:rPr lang="en-US" sz="1600" dirty="0">
                          <a:effectLst/>
                          <a:latin typeface="Arial"/>
                        </a:rPr>
                        <a:t> (Assembly)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</a:rPr>
                        <a:t>120</a:t>
                      </a:r>
                      <a:endParaRPr lang="en-US" sz="1600" dirty="0">
                        <a:effectLst/>
                        <a:latin typeface="Arial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</a:rPr>
                        <a:t>60%</a:t>
                      </a:r>
                      <a:endParaRPr lang="en-US" sz="1600" dirty="0">
                        <a:effectLst/>
                        <a:latin typeface="Arial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24752"/>
                  </a:ext>
                </a:extLst>
              </a:tr>
            </a:tbl>
          </a:graphicData>
        </a:graphic>
      </p:graphicFrame>
      <p:pic>
        <p:nvPicPr>
          <p:cNvPr id="24" name="Picture 23" descr="Seta - ícones de setas grátis">
            <a:extLst>
              <a:ext uri="{FF2B5EF4-FFF2-40B4-BE49-F238E27FC236}">
                <a16:creationId xmlns:a16="http://schemas.microsoft.com/office/drawing/2014/main" id="{1E53F9B3-4D5A-A35B-D1F2-7A6FE11A1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253" y="4928886"/>
            <a:ext cx="1205696" cy="1167114"/>
          </a:xfrm>
          <a:prstGeom prst="rect">
            <a:avLst/>
          </a:prstGeom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E3875303-A8B2-1D16-C270-F63107D53A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0093961"/>
              </p:ext>
            </p:extLst>
          </p:nvPr>
        </p:nvGraphicFramePr>
        <p:xfrm>
          <a:off x="5632169" y="2166335"/>
          <a:ext cx="5943600" cy="393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65151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stribuidor GoodWe | Inversores e sistemas híbridos">
            <a:extLst>
              <a:ext uri="{FF2B5EF4-FFF2-40B4-BE49-F238E27FC236}">
                <a16:creationId xmlns:a16="http://schemas.microsoft.com/office/drawing/2014/main" id="{65B8B808-5137-85CD-B4CB-F5EF48EEB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44" y="323002"/>
            <a:ext cx="2520864" cy="63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2D978F-89AD-17D4-5BDD-DEFA46AC2E21}"/>
              </a:ext>
            </a:extLst>
          </p:cNvPr>
          <p:cNvSpPr txBox="1"/>
          <p:nvPr/>
        </p:nvSpPr>
        <p:spPr>
          <a:xfrm>
            <a:off x="4793848" y="3091405"/>
            <a:ext cx="260430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800" dirty="0" err="1">
                <a:solidFill>
                  <a:srgbClr val="404040"/>
                </a:solidFill>
                <a:latin typeface="Bookman Old Style"/>
              </a:rPr>
              <a:t>Obrigado</a:t>
            </a:r>
            <a:r>
              <a:rPr lang="en-US" sz="3800" dirty="0">
                <a:solidFill>
                  <a:srgbClr val="404040"/>
                </a:solidFill>
                <a:latin typeface="Bookman Old Style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366470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{6025903D-362D-4787-A099-2ED74FE5EAE5}TFf0a5ceae-4542-492d-822e-d65a94fb0e1e3b562c5a_win32-009a0557e699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Eletropostos Eficientes</vt:lpstr>
      <vt:lpstr>Contexto</vt:lpstr>
      <vt:lpstr>Problema</vt:lpstr>
      <vt:lpstr>Por que otimizar?</vt:lpstr>
      <vt:lpstr>Solução</vt:lpstr>
      <vt:lpstr>C vs Assembly</vt:lpstr>
      <vt:lpstr>Código</vt:lpstr>
      <vt:lpstr>Saída no painel</vt:lpstr>
      <vt:lpstr>Impacto sustentável</vt:lpstr>
      <vt:lpstr>Comparação (conceitual)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Eletropostos Eficientes</dc:title>
  <dc:creator>Laboratório FIAP</dc:creator>
  <cp:revision>518</cp:revision>
  <dcterms:created xsi:type="dcterms:W3CDTF">2026-05-06T23:21:42Z</dcterms:created>
  <dcterms:modified xsi:type="dcterms:W3CDTF">2026-05-15T02:28:53Z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